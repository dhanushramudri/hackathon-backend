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9105B"/>
              </a:gs>
              <a:gs pos="100000">
                <a:srgbClr val="71EAE1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Arial"/>
              </a:rPr>
              <a:t>JM</a:t>
            </a:r>
            <a:r>
              <a:rPr sz="2200" b="1" i="0">
                <a:solidFill>
                  <a:srgbClr val="71EAE1"/>
                </a:solidFill>
                <a:latin typeface="Arial"/>
              </a:rPr>
              <a:t>/\</a:t>
            </a:r>
            <a:r>
              <a:rPr sz="2200" b="1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Arial"/>
              </a:rPr>
              <a:t>ResourceIQ vs. Workday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09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Arial"/>
              </a:rPr>
              <a:t>For Resource Management — Board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Arial"/>
              </a:rPr>
              <a:t>01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9105B"/>
                </a:solidFill>
                <a:latin typeface="Arial"/>
              </a:rPr>
              <a:t>Which platform actually fits how we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95959"/>
                </a:solidFill>
                <a:latin typeface="Arial"/>
              </a:rPr>
              <a:t>Day-to-day fit — part 1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1280160"/>
          <a:ext cx="11430000" cy="4709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4389120"/>
                <a:gridCol w="43891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28016" marR="109728" marT="27432" marB="27432" anchor="ctr">
                    <a:solidFill>
                      <a:srgbClr val="191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ResourceIQ (ours)</a:t>
                      </a:r>
                    </a:p>
                  </a:txBody>
                  <a:tcPr marL="128016" marR="109728" marT="27432" marB="27432" anchor="ctr">
                    <a:solidFill>
                      <a:srgbClr val="191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Workday</a:t>
                      </a:r>
                    </a:p>
                  </a:txBody>
                  <a:tcPr marL="128016" marR="109728" marT="27432" marB="27432" anchor="ctr">
                    <a:solidFill>
                      <a:srgbClr val="19105B"/>
                    </a:solidFill>
                  </a:tcPr>
                </a:tc>
              </a:tr>
              <a:tr h="72085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9105B"/>
                          </a:solidFill>
                          <a:latin typeface="Arial"/>
                        </a:rPr>
                        <a:t>Built for</a:t>
                      </a:r>
                    </a:p>
                  </a:txBody>
                  <a:tcPr marL="128016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978E"/>
                          </a:solidFill>
                          <a:latin typeface="Arial"/>
                        </a:rPr>
                        <a:t>Everyday staffing decisions</a:t>
                      </a:r>
                    </a:p>
                  </a:txBody>
                  <a:tcPr marL="128016" marR="109728" marT="27432" marB="27432" anchor="ctr">
                    <a:solidFill>
                      <a:srgbClr val="E8FB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595959"/>
                          </a:solidFill>
                          <a:latin typeface="Arial"/>
                        </a:rPr>
                        <a:t>Company-wide HR &amp; finance</a:t>
                      </a:r>
                    </a:p>
                  </a:txBody>
                  <a:tcPr marL="128016" marR="109728" marT="27432" marB="27432" anchor="ctr">
                    <a:solidFill>
                      <a:srgbClr val="FFFFFF"/>
                    </a:solidFill>
                  </a:tcPr>
                </a:tc>
              </a:tr>
              <a:tr h="72085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9105B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marL="128016" marR="10972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978E"/>
                          </a:solidFill>
                          <a:latin typeface="Arial"/>
                        </a:rPr>
                        <a:t>Already built — no extra cost</a:t>
                      </a:r>
                    </a:p>
                  </a:txBody>
                  <a:tcPr marL="128016" marR="109728" marT="27432" marB="27432" anchor="ctr">
                    <a:solidFill>
                      <a:srgbClr val="E8FB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595959"/>
                          </a:solidFill>
                          <a:latin typeface="Arial"/>
                        </a:rPr>
                        <a:t>$100–300+ per user, per month</a:t>
                      </a:r>
                    </a:p>
                  </a:txBody>
                  <a:tcPr marL="128016" marR="109728" marT="27432" marB="27432" anchor="ctr">
                    <a:solidFill>
                      <a:srgbClr val="F2F2F2"/>
                    </a:solidFill>
                  </a:tcPr>
                </a:tc>
              </a:tr>
              <a:tr h="72085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9105B"/>
                          </a:solidFill>
                          <a:latin typeface="Arial"/>
                        </a:rPr>
                        <a:t>Time to get going</a:t>
                      </a:r>
                    </a:p>
                  </a:txBody>
                  <a:tcPr marL="128016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978E"/>
                          </a:solidFill>
                          <a:latin typeface="Arial"/>
                        </a:rPr>
                        <a:t>Ready now</a:t>
                      </a:r>
                    </a:p>
                  </a:txBody>
                  <a:tcPr marL="128016" marR="109728" marT="27432" marB="27432" anchor="ctr">
                    <a:solidFill>
                      <a:srgbClr val="E8FB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595959"/>
                          </a:solidFill>
                          <a:latin typeface="Arial"/>
                        </a:rPr>
                        <a:t>3–12 months to roll out</a:t>
                      </a:r>
                    </a:p>
                  </a:txBody>
                  <a:tcPr marL="128016" marR="109728" marT="27432" marB="27432" anchor="ctr">
                    <a:solidFill>
                      <a:srgbClr val="FFFFFF"/>
                    </a:solidFill>
                  </a:tcPr>
                </a:tc>
              </a:tr>
              <a:tr h="72085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9105B"/>
                          </a:solidFill>
                          <a:latin typeface="Arial"/>
                        </a:rPr>
                        <a:t>Finding the right person</a:t>
                      </a:r>
                    </a:p>
                  </a:txBody>
                  <a:tcPr marL="128016" marR="10972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978E"/>
                          </a:solidFill>
                          <a:latin typeface="Arial"/>
                        </a:rPr>
                        <a:t>Smart AI matching, explains why</a:t>
                      </a:r>
                    </a:p>
                  </a:txBody>
                  <a:tcPr marL="128016" marR="109728" marT="27432" marB="27432" anchor="ctr">
                    <a:solidFill>
                      <a:srgbClr val="E8FB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595959"/>
                          </a:solidFill>
                          <a:latin typeface="Arial"/>
                        </a:rPr>
                        <a:t>Rule-based matching</a:t>
                      </a:r>
                    </a:p>
                  </a:txBody>
                  <a:tcPr marL="128016" marR="109728" marT="27432" marB="27432" anchor="ctr">
                    <a:solidFill>
                      <a:srgbClr val="F2F2F2"/>
                    </a:solidFill>
                  </a:tcPr>
                </a:tc>
              </a:tr>
              <a:tr h="72085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9105B"/>
                          </a:solidFill>
                          <a:latin typeface="Arial"/>
                        </a:rPr>
                        <a:t>Ask-a-question AI assistant</a:t>
                      </a:r>
                    </a:p>
                  </a:txBody>
                  <a:tcPr marL="128016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978E"/>
                          </a:solidFill>
                          <a:latin typeface="Arial"/>
                        </a:rPr>
                        <a:t>Yes — plain-English answers, live data</a:t>
                      </a:r>
                    </a:p>
                  </a:txBody>
                  <a:tcPr marL="128016" marR="109728" marT="27432" marB="27432" anchor="ctr">
                    <a:solidFill>
                      <a:srgbClr val="E8FB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595959"/>
                          </a:solidFill>
                          <a:latin typeface="Arial"/>
                        </a:rPr>
                        <a:t>Not a focus</a:t>
                      </a:r>
                    </a:p>
                  </a:txBody>
                  <a:tcPr marL="128016" marR="109728" marT="27432" marB="27432" anchor="ctr">
                    <a:solidFill>
                      <a:srgbClr val="FFFFFF"/>
                    </a:solidFill>
                  </a:tcPr>
                </a:tc>
              </a:tr>
              <a:tr h="72085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9105B"/>
                          </a:solidFill>
                          <a:latin typeface="Arial"/>
                        </a:rPr>
                        <a:t>Who controls the roadmap</a:t>
                      </a:r>
                    </a:p>
                  </a:txBody>
                  <a:tcPr marL="128016" marR="10972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978E"/>
                          </a:solidFill>
                          <a:latin typeface="Arial"/>
                        </a:rPr>
                        <a:t>JMAN, directly</a:t>
                      </a:r>
                    </a:p>
                  </a:txBody>
                  <a:tcPr marL="128016" marR="109728" marT="27432" marB="27432" anchor="ctr">
                    <a:solidFill>
                      <a:srgbClr val="E8FB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595959"/>
                          </a:solidFill>
                          <a:latin typeface="Arial"/>
                        </a:rPr>
                        <a:t>Shared across thousands of customers</a:t>
                      </a:r>
                    </a:p>
                  </a:txBody>
                  <a:tcPr marL="128016" marR="109728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4048" y="1664207"/>
            <a:ext cx="11430000" cy="15240"/>
          </a:xfrm>
          <a:prstGeom prst="rect">
            <a:avLst/>
          </a:prstGeom>
          <a:solidFill>
            <a:srgbClr val="FF6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263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9105B"/>
                </a:solidFill>
                <a:latin typeface="Arial"/>
              </a:rPr>
              <a:t>JM</a:t>
            </a:r>
            <a:r>
              <a:rPr sz="1300" b="1" i="0">
                <a:solidFill>
                  <a:srgbClr val="3411A3"/>
                </a:solidFill>
                <a:latin typeface="Arial"/>
              </a:rPr>
              <a:t>/\</a:t>
            </a:r>
            <a:r>
              <a:rPr sz="1300" b="1" i="0">
                <a:solidFill>
                  <a:srgbClr val="19105B"/>
                </a:solidFill>
                <a:latin typeface="Arial"/>
              </a:rP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6300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Arial"/>
              </a:rPr>
              <a:t>Public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11292840" y="6291072"/>
            <a:ext cx="164592" cy="256032"/>
          </a:xfrm>
          <a:prstGeom prst="parallelogram">
            <a:avLst/>
          </a:prstGeom>
          <a:solidFill>
            <a:srgbClr val="169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11503152" y="6291072"/>
            <a:ext cx="502920" cy="256032"/>
          </a:xfrm>
          <a:prstGeom prst="parallelogram">
            <a:avLst/>
          </a:prstGeom>
          <a:solidFill>
            <a:srgbClr val="191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9105B"/>
                </a:solidFill>
                <a:latin typeface="Arial"/>
              </a:rPr>
              <a:t>Which platform actually fits how we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95959"/>
                </a:solidFill>
                <a:latin typeface="Arial"/>
              </a:rPr>
              <a:t>Capability &amp; risk — part 2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1280160"/>
          <a:ext cx="11430000" cy="397763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4389120"/>
                <a:gridCol w="43891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28016" marR="109728" marT="27432" marB="27432" anchor="ctr">
                    <a:solidFill>
                      <a:srgbClr val="191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ResourceIQ (ours)</a:t>
                      </a:r>
                    </a:p>
                  </a:txBody>
                  <a:tcPr marL="128016" marR="109728" marT="27432" marB="27432" anchor="ctr">
                    <a:solidFill>
                      <a:srgbClr val="191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Workday</a:t>
                      </a:r>
                    </a:p>
                  </a:txBody>
                  <a:tcPr marL="128016" marR="109728" marT="27432" marB="27432" anchor="ctr">
                    <a:solidFill>
                      <a:srgbClr val="19105B"/>
                    </a:solidFill>
                  </a:tcPr>
                </a:tc>
              </a:tr>
              <a:tr h="598931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9105B"/>
                          </a:solidFill>
                          <a:latin typeface="Arial"/>
                        </a:rPr>
                        <a:t>Spotting at-risk projects early</a:t>
                      </a:r>
                    </a:p>
                  </a:txBody>
                  <a:tcPr marL="128016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978E"/>
                          </a:solidFill>
                          <a:latin typeface="Arial"/>
                        </a:rPr>
                        <a:t>Yes — real-time, with proof</a:t>
                      </a:r>
                    </a:p>
                  </a:txBody>
                  <a:tcPr marL="128016" marR="109728" marT="27432" marB="27432" anchor="ctr">
                    <a:solidFill>
                      <a:srgbClr val="E8FB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595959"/>
                          </a:solidFill>
                          <a:latin typeface="Arial"/>
                        </a:rPr>
                        <a:t>Not built for this</a:t>
                      </a:r>
                    </a:p>
                  </a:txBody>
                  <a:tcPr marL="128016" marR="109728" marT="27432" marB="27432" anchor="ctr">
                    <a:solidFill>
                      <a:srgbClr val="FFFFFF"/>
                    </a:solidFill>
                  </a:tcPr>
                </a:tc>
              </a:tr>
              <a:tr h="598931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9105B"/>
                          </a:solidFill>
                          <a:latin typeface="Arial"/>
                        </a:rPr>
                        <a:t>Revenue &amp; headcount planning</a:t>
                      </a:r>
                    </a:p>
                  </a:txBody>
                  <a:tcPr marL="128016" marR="10972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978E"/>
                          </a:solidFill>
                          <a:latin typeface="Arial"/>
                        </a:rPr>
                        <a:t>Built in</a:t>
                      </a:r>
                    </a:p>
                  </a:txBody>
                  <a:tcPr marL="128016" marR="109728" marT="27432" marB="27432" anchor="ctr">
                    <a:solidFill>
                      <a:srgbClr val="E8FB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595959"/>
                          </a:solidFill>
                          <a:latin typeface="Arial"/>
                        </a:rPr>
                        <a:t>Needs extra modules</a:t>
                      </a:r>
                    </a:p>
                  </a:txBody>
                  <a:tcPr marL="128016" marR="109728" marT="27432" marB="27432" anchor="ctr">
                    <a:solidFill>
                      <a:srgbClr val="F2F2F2"/>
                    </a:solidFill>
                  </a:tcPr>
                </a:tc>
              </a:tr>
              <a:tr h="598931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9105B"/>
                          </a:solidFill>
                          <a:latin typeface="Arial"/>
                        </a:rPr>
                        <a:t>Freeing up idle people fast</a:t>
                      </a:r>
                    </a:p>
                  </a:txBody>
                  <a:tcPr marL="128016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978E"/>
                          </a:solidFill>
                          <a:latin typeface="Arial"/>
                        </a:rPr>
                        <a:t>One click</a:t>
                      </a:r>
                    </a:p>
                  </a:txBody>
                  <a:tcPr marL="128016" marR="109728" marT="27432" marB="27432" anchor="ctr">
                    <a:solidFill>
                      <a:srgbClr val="E8FB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595959"/>
                          </a:solidFill>
                          <a:latin typeface="Arial"/>
                        </a:rPr>
                        <a:t>Generic, not tailored</a:t>
                      </a:r>
                    </a:p>
                  </a:txBody>
                  <a:tcPr marL="128016" marR="109728" marT="27432" marB="27432" anchor="ctr">
                    <a:solidFill>
                      <a:srgbClr val="FFFFFF"/>
                    </a:solidFill>
                  </a:tcPr>
                </a:tc>
              </a:tr>
              <a:tr h="598931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9105B"/>
                          </a:solidFill>
                          <a:latin typeface="Arial"/>
                        </a:rPr>
                        <a:t>Works with our other systems</a:t>
                      </a:r>
                    </a:p>
                  </a:txBody>
                  <a:tcPr marL="128016" marR="10972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978E"/>
                          </a:solidFill>
                          <a:latin typeface="Arial"/>
                        </a:rPr>
                        <a:t>Yes — connects to anything, incl. Workday</a:t>
                      </a:r>
                    </a:p>
                  </a:txBody>
                  <a:tcPr marL="128016" marR="109728" marT="27432" marB="27432" anchor="ctr">
                    <a:solidFill>
                      <a:srgbClr val="E8FB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595959"/>
                          </a:solidFill>
                          <a:latin typeface="Arial"/>
                        </a:rPr>
                        <a:t>Data stays inside Workday</a:t>
                      </a:r>
                    </a:p>
                  </a:txBody>
                  <a:tcPr marL="128016" marR="109728" marT="27432" marB="27432" anchor="ctr">
                    <a:solidFill>
                      <a:srgbClr val="F2F2F2"/>
                    </a:solidFill>
                  </a:tcPr>
                </a:tc>
              </a:tr>
              <a:tr h="598931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9105B"/>
                          </a:solidFill>
                          <a:latin typeface="Arial"/>
                        </a:rPr>
                        <a:t>Locked into one vendor</a:t>
                      </a:r>
                    </a:p>
                  </a:txBody>
                  <a:tcPr marL="128016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978E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28016" marR="109728" marT="27432" marB="27432" anchor="ctr">
                    <a:solidFill>
                      <a:srgbClr val="E8FB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595959"/>
                          </a:solidFill>
                          <a:latin typeface="Arial"/>
                        </a:rPr>
                        <a:t>Yes — costly to leave</a:t>
                      </a:r>
                    </a:p>
                  </a:txBody>
                  <a:tcPr marL="128016" marR="109728" marT="27432" marB="27432" anchor="ctr">
                    <a:solidFill>
                      <a:srgbClr val="FFFFFF"/>
                    </a:solidFill>
                  </a:tcPr>
                </a:tc>
              </a:tr>
              <a:tr h="598931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9105B"/>
                          </a:solidFill>
                          <a:latin typeface="Arial"/>
                        </a:rPr>
                        <a:t>Best fit for JMAN right now</a:t>
                      </a:r>
                    </a:p>
                  </a:txBody>
                  <a:tcPr marL="128016" marR="10972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978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28016" marR="109728" marT="27432" marB="27432" anchor="ctr">
                    <a:solidFill>
                      <a:srgbClr val="E8FB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595959"/>
                          </a:solidFill>
                          <a:latin typeface="Arial"/>
                        </a:rPr>
                        <a:t>Not really</a:t>
                      </a:r>
                    </a:p>
                  </a:txBody>
                  <a:tcPr marL="128016" marR="109728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4048" y="1664207"/>
            <a:ext cx="11430000" cy="15240"/>
          </a:xfrm>
          <a:prstGeom prst="rect">
            <a:avLst/>
          </a:prstGeom>
          <a:solidFill>
            <a:srgbClr val="FF6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384048" y="5440680"/>
            <a:ext cx="11430000" cy="548640"/>
          </a:xfrm>
          <a:prstGeom prst="parallelogram">
            <a:avLst/>
          </a:prstGeom>
          <a:solidFill>
            <a:srgbClr val="FF6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1">
                <a:solidFill>
                  <a:srgbClr val="FFFFFF"/>
                </a:solidFill>
                <a:latin typeface="Arial"/>
              </a:rPr>
              <a:t>Bottom line: ResourceIQ is ready today, built for us, and costs nothing extra.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0350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9105B"/>
                </a:solidFill>
                <a:latin typeface="Arial"/>
              </a:rPr>
              <a:t>ResourceIQ isn't competing with Workday — it complements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6263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9105B"/>
                </a:solidFill>
                <a:latin typeface="Arial"/>
              </a:rPr>
              <a:t>JM</a:t>
            </a:r>
            <a:r>
              <a:rPr sz="1300" b="1" i="0">
                <a:solidFill>
                  <a:srgbClr val="3411A3"/>
                </a:solidFill>
                <a:latin typeface="Arial"/>
              </a:rPr>
              <a:t>/\</a:t>
            </a:r>
            <a:r>
              <a:rPr sz="1300" b="1" i="0">
                <a:solidFill>
                  <a:srgbClr val="19105B"/>
                </a:solidFill>
                <a:latin typeface="Arial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6300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Arial"/>
              </a:rPr>
              <a:t>Public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11292840" y="6291072"/>
            <a:ext cx="164592" cy="256032"/>
          </a:xfrm>
          <a:prstGeom prst="parallelogram">
            <a:avLst/>
          </a:prstGeom>
          <a:solidFill>
            <a:srgbClr val="169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11503152" y="6291072"/>
            <a:ext cx="502920" cy="256032"/>
          </a:xfrm>
          <a:prstGeom prst="parallelogram">
            <a:avLst/>
          </a:prstGeom>
          <a:solidFill>
            <a:srgbClr val="191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