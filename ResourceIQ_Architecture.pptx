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9105B"/>
                </a:solidFill>
                <a:latin typeface="Arial"/>
              </a:rPr>
              <a:t>ResourceIQ —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03504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2514E"/>
                </a:solidFill>
                <a:latin typeface="Arial"/>
              </a:rPr>
              <a:t>Real data in, one engine, two front doors out — the whole app,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2514E"/>
                </a:solidFill>
                <a:latin typeface="Arial"/>
              </a:rPr>
              <a:t>High level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2282113" cy="384048"/>
          </a:xfrm>
          <a:prstGeom prst="roundRect">
            <a:avLst>
              <a:gd name="adj" fmla="val 35000"/>
            </a:avLst>
          </a:prstGeom>
          <a:solidFill>
            <a:srgbClr val="0C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REAL DATA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62456"/>
            <a:ext cx="2282113" cy="4398264"/>
          </a:xfrm>
          <a:prstGeom prst="roundRect">
            <a:avLst>
              <a:gd name="adj" fmla="val 3500"/>
            </a:avLst>
          </a:prstGeom>
          <a:solidFill>
            <a:srgbClr val="EBF7F4"/>
          </a:solidFill>
          <a:ln w="12700">
            <a:solidFill>
              <a:srgbClr val="0CA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6364" y="1691640"/>
            <a:ext cx="319495" cy="319495"/>
          </a:xfrm>
          <a:prstGeom prst="roundRect">
            <a:avLst>
              <a:gd name="adj" fmla="val 22000"/>
            </a:avLst>
          </a:prstGeom>
          <a:solidFill>
            <a:srgbClr val="0C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agnetic Disk 7"/>
          <p:cNvSpPr/>
          <p:nvPr/>
        </p:nvSpPr>
        <p:spPr>
          <a:xfrm>
            <a:off x="663043" y="1780779"/>
            <a:ext cx="166137" cy="141217"/>
          </a:xfrm>
          <a:prstGeom prst="flowChartMagneticDisk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5" y="2047711"/>
            <a:ext cx="6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Employee &amp; Project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7068" y="1691640"/>
            <a:ext cx="319495" cy="319495"/>
          </a:xfrm>
          <a:prstGeom prst="roundRect">
            <a:avLst>
              <a:gd name="adj" fmla="val 22000"/>
            </a:avLst>
          </a:prstGeom>
          <a:solidFill>
            <a:srgbClr val="0C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cument 10"/>
          <p:cNvSpPr/>
          <p:nvPr/>
        </p:nvSpPr>
        <p:spPr>
          <a:xfrm>
            <a:off x="1423747" y="1780779"/>
            <a:ext cx="166137" cy="141217"/>
          </a:xfrm>
          <a:prstGeom prst="flowChartDocumen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3040" y="2047711"/>
            <a:ext cx="6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Timesheets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7773" y="1691640"/>
            <a:ext cx="319495" cy="319495"/>
          </a:xfrm>
          <a:prstGeom prst="roundRect">
            <a:avLst>
              <a:gd name="adj" fmla="val 22000"/>
            </a:avLst>
          </a:prstGeom>
          <a:solidFill>
            <a:srgbClr val="0C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ultidocument 13"/>
          <p:cNvSpPr/>
          <p:nvPr/>
        </p:nvSpPr>
        <p:spPr>
          <a:xfrm>
            <a:off x="2184452" y="1780779"/>
            <a:ext cx="166137" cy="141217"/>
          </a:xfrm>
          <a:prstGeom prst="flowChartMultidocumen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3745" y="2047711"/>
            <a:ext cx="6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Weekly Status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6364" y="3689604"/>
            <a:ext cx="319495" cy="319495"/>
          </a:xfrm>
          <a:prstGeom prst="roundRect">
            <a:avLst>
              <a:gd name="adj" fmla="val 22000"/>
            </a:avLst>
          </a:prstGeom>
          <a:solidFill>
            <a:srgbClr val="0C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erge 16"/>
          <p:cNvSpPr/>
          <p:nvPr/>
        </p:nvSpPr>
        <p:spPr>
          <a:xfrm>
            <a:off x="663043" y="3766283"/>
            <a:ext cx="166137" cy="166137"/>
          </a:xfrm>
          <a:prstGeom prst="flowChartMerg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" y="4045675"/>
            <a:ext cx="6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HubSpot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47068" y="3689604"/>
            <a:ext cx="319495" cy="319495"/>
          </a:xfrm>
          <a:prstGeom prst="roundRect">
            <a:avLst>
              <a:gd name="adj" fmla="val 22000"/>
            </a:avLst>
          </a:prstGeom>
          <a:solidFill>
            <a:srgbClr val="0C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nternal Storage 19"/>
          <p:cNvSpPr/>
          <p:nvPr/>
        </p:nvSpPr>
        <p:spPr>
          <a:xfrm>
            <a:off x="1423747" y="3766283"/>
            <a:ext cx="166137" cy="166137"/>
          </a:xfrm>
          <a:prstGeom prst="flowChartInternalStorag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3040" y="4045675"/>
            <a:ext cx="6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CoE Skills Mapping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7773" y="3689604"/>
            <a:ext cx="319495" cy="319495"/>
          </a:xfrm>
          <a:prstGeom prst="roundRect">
            <a:avLst>
              <a:gd name="adj" fmla="val 22000"/>
            </a:avLst>
          </a:prstGeom>
          <a:solidFill>
            <a:srgbClr val="0C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22"/>
          <p:cNvSpPr/>
          <p:nvPr/>
        </p:nvSpPr>
        <p:spPr>
          <a:xfrm>
            <a:off x="2184452" y="3778743"/>
            <a:ext cx="166137" cy="141217"/>
          </a:xfrm>
          <a:prstGeom prst="flowChartPunchedCar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3745" y="4045675"/>
            <a:ext cx="6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Azure DevOps Tickets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675305" y="3314700"/>
            <a:ext cx="219456" cy="182880"/>
          </a:xfrm>
          <a:prstGeom prst="rightArrow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22193" y="1051560"/>
            <a:ext cx="2282113" cy="384048"/>
          </a:xfrm>
          <a:prstGeom prst="roundRect">
            <a:avLst>
              <a:gd name="adj" fmla="val 35000"/>
            </a:avLst>
          </a:prstGeom>
          <a:solidFill>
            <a:srgbClr val="341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BACKEND — FASTAPI (EC2)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2193" y="1362456"/>
            <a:ext cx="2282113" cy="4398264"/>
          </a:xfrm>
          <a:prstGeom prst="roundRect">
            <a:avLst>
              <a:gd name="adj" fmla="val 3500"/>
            </a:avLst>
          </a:prstGeom>
          <a:solidFill>
            <a:srgbClr val="EEEBF7"/>
          </a:solidFill>
          <a:ln w="12700">
            <a:solidFill>
              <a:srgbClr val="3411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142798" y="1691640"/>
            <a:ext cx="319495" cy="319495"/>
          </a:xfrm>
          <a:prstGeom prst="roundRect">
            <a:avLst>
              <a:gd name="adj" fmla="val 22000"/>
            </a:avLst>
          </a:prstGeom>
          <a:solidFill>
            <a:srgbClr val="341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agnetic Disk 28"/>
          <p:cNvSpPr/>
          <p:nvPr/>
        </p:nvSpPr>
        <p:spPr>
          <a:xfrm>
            <a:off x="3219477" y="1780779"/>
            <a:ext cx="166137" cy="141217"/>
          </a:xfrm>
          <a:prstGeom prst="flowChartMagneticDisk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8769" y="2047711"/>
            <a:ext cx="6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DuckDB (in-memory)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03502" y="1691640"/>
            <a:ext cx="319495" cy="319495"/>
          </a:xfrm>
          <a:prstGeom prst="roundRect">
            <a:avLst>
              <a:gd name="adj" fmla="val 22000"/>
            </a:avLst>
          </a:prstGeom>
          <a:solidFill>
            <a:srgbClr val="341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Gear 9 31"/>
          <p:cNvSpPr/>
          <p:nvPr/>
        </p:nvSpPr>
        <p:spPr>
          <a:xfrm>
            <a:off x="3980181" y="1768319"/>
            <a:ext cx="166137" cy="166137"/>
          </a:xfrm>
          <a:prstGeom prst="gear9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19474" y="2047711"/>
            <a:ext cx="6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Recommendation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4207" y="1691640"/>
            <a:ext cx="319495" cy="319495"/>
          </a:xfrm>
          <a:prstGeom prst="roundRect">
            <a:avLst>
              <a:gd name="adj" fmla="val 22000"/>
            </a:avLst>
          </a:prstGeom>
          <a:solidFill>
            <a:srgbClr val="341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cision 34"/>
          <p:cNvSpPr/>
          <p:nvPr/>
        </p:nvSpPr>
        <p:spPr>
          <a:xfrm>
            <a:off x="4740886" y="1768319"/>
            <a:ext cx="166137" cy="166137"/>
          </a:xfrm>
          <a:prstGeom prst="flowChartDecisi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179" y="2047711"/>
            <a:ext cx="6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Health Monitor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42798" y="3689604"/>
            <a:ext cx="319495" cy="319495"/>
          </a:xfrm>
          <a:prstGeom prst="roundRect">
            <a:avLst>
              <a:gd name="adj" fmla="val 22000"/>
            </a:avLst>
          </a:prstGeom>
          <a:solidFill>
            <a:srgbClr val="341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redefined Process 37"/>
          <p:cNvSpPr/>
          <p:nvPr/>
        </p:nvSpPr>
        <p:spPr>
          <a:xfrm>
            <a:off x="3219477" y="3766283"/>
            <a:ext cx="166137" cy="166137"/>
          </a:xfrm>
          <a:prstGeom prst="flowChartPredefinedProcess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58769" y="4045675"/>
            <a:ext cx="6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Forecast Engine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03502" y="3689604"/>
            <a:ext cx="319495" cy="319495"/>
          </a:xfrm>
          <a:prstGeom prst="roundRect">
            <a:avLst>
              <a:gd name="adj" fmla="val 22000"/>
            </a:avLst>
          </a:prstGeom>
          <a:solidFill>
            <a:srgbClr val="341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lternate process 40"/>
          <p:cNvSpPr/>
          <p:nvPr/>
        </p:nvSpPr>
        <p:spPr>
          <a:xfrm>
            <a:off x="3980181" y="3766283"/>
            <a:ext cx="166137" cy="166137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19474" y="4045675"/>
            <a:ext cx="6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Free Pool · Leave · Role Mix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231739" y="3314700"/>
            <a:ext cx="219456" cy="182880"/>
          </a:xfrm>
          <a:prstGeom prst="rightArrow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78627" y="1051560"/>
            <a:ext cx="2282113" cy="384048"/>
          </a:xfrm>
          <a:prstGeom prst="roundRect">
            <a:avLst>
              <a:gd name="adj" fmla="val 35000"/>
            </a:avLst>
          </a:prstGeom>
          <a:solidFill>
            <a:srgbClr val="FF6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AI LAYER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78627" y="1362456"/>
            <a:ext cx="2282113" cy="4398264"/>
          </a:xfrm>
          <a:prstGeom prst="roundRect">
            <a:avLst>
              <a:gd name="adj" fmla="val 3500"/>
            </a:avLst>
          </a:prstGeom>
          <a:solidFill>
            <a:srgbClr val="FFF2F6"/>
          </a:solidFill>
          <a:ln w="12700">
            <a:solidFill>
              <a:srgbClr val="FF61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809534" y="1691640"/>
            <a:ext cx="479243" cy="479243"/>
          </a:xfrm>
          <a:prstGeom prst="roundRect">
            <a:avLst>
              <a:gd name="adj" fmla="val 22000"/>
            </a:avLst>
          </a:prstGeom>
          <a:solidFill>
            <a:srgbClr val="FF6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Lightning Bolt 46"/>
          <p:cNvSpPr/>
          <p:nvPr/>
        </p:nvSpPr>
        <p:spPr>
          <a:xfrm>
            <a:off x="5924552" y="1806658"/>
            <a:ext cx="249206" cy="249206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15203" y="2207459"/>
            <a:ext cx="106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Azure OpenAI GPT-4o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50591" y="1691640"/>
            <a:ext cx="479243" cy="479243"/>
          </a:xfrm>
          <a:prstGeom prst="roundRect">
            <a:avLst>
              <a:gd name="adj" fmla="val 22000"/>
            </a:avLst>
          </a:prstGeom>
          <a:solidFill>
            <a:srgbClr val="FF6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exagon 49"/>
          <p:cNvSpPr/>
          <p:nvPr/>
        </p:nvSpPr>
        <p:spPr>
          <a:xfrm>
            <a:off x="7065609" y="1806658"/>
            <a:ext cx="249206" cy="249206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56260" y="2207459"/>
            <a:ext cx="106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Gemini Fallback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09534" y="3689604"/>
            <a:ext cx="479243" cy="479243"/>
          </a:xfrm>
          <a:prstGeom prst="roundRect">
            <a:avLst>
              <a:gd name="adj" fmla="val 22000"/>
            </a:avLst>
          </a:prstGeom>
          <a:solidFill>
            <a:srgbClr val="FF6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Hexagon 52"/>
          <p:cNvSpPr/>
          <p:nvPr/>
        </p:nvSpPr>
        <p:spPr>
          <a:xfrm>
            <a:off x="5924552" y="3804622"/>
            <a:ext cx="249206" cy="249206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15203" y="4205423"/>
            <a:ext cx="106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Embedding Model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50591" y="3689604"/>
            <a:ext cx="479243" cy="479243"/>
          </a:xfrm>
          <a:prstGeom prst="roundRect">
            <a:avLst>
              <a:gd name="adj" fmla="val 22000"/>
            </a:avLst>
          </a:prstGeom>
          <a:solidFill>
            <a:srgbClr val="FF6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ular Callout 55"/>
          <p:cNvSpPr/>
          <p:nvPr/>
        </p:nvSpPr>
        <p:spPr>
          <a:xfrm>
            <a:off x="7065609" y="3804622"/>
            <a:ext cx="249206" cy="249206"/>
          </a:xfrm>
          <a:prstGeom prst="wedgeRoundRectCallo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56260" y="4205423"/>
            <a:ext cx="106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Buddy Copilot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7788173" y="3314700"/>
            <a:ext cx="219456" cy="182880"/>
          </a:xfrm>
          <a:prstGeom prst="rightArrow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035061" y="1051560"/>
            <a:ext cx="2282113" cy="384048"/>
          </a:xfrm>
          <a:prstGeom prst="roundRect">
            <a:avLst>
              <a:gd name="adj" fmla="val 35000"/>
            </a:avLst>
          </a:prstGeom>
          <a:solidFill>
            <a:srgbClr val="169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FRONTEND — NEXT.JS (VERCEL)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35061" y="1362456"/>
            <a:ext cx="2282113" cy="4398264"/>
          </a:xfrm>
          <a:prstGeom prst="roundRect">
            <a:avLst>
              <a:gd name="adj" fmla="val 3500"/>
            </a:avLst>
          </a:prstGeom>
          <a:solidFill>
            <a:srgbClr val="ECF6F5"/>
          </a:solidFill>
          <a:ln w="12700">
            <a:solidFill>
              <a:srgbClr val="1697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365967" y="1691640"/>
            <a:ext cx="479243" cy="479243"/>
          </a:xfrm>
          <a:prstGeom prst="roundRect">
            <a:avLst>
              <a:gd name="adj" fmla="val 22000"/>
            </a:avLst>
          </a:prstGeom>
          <a:solidFill>
            <a:srgbClr val="169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isplay 61"/>
          <p:cNvSpPr/>
          <p:nvPr/>
        </p:nvSpPr>
        <p:spPr>
          <a:xfrm>
            <a:off x="8480986" y="1806658"/>
            <a:ext cx="249206" cy="249206"/>
          </a:xfrm>
          <a:prstGeom prst="flowChartDisplay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71637" y="2207459"/>
            <a:ext cx="106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Dashboard · Employees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07024" y="1691640"/>
            <a:ext cx="479243" cy="479243"/>
          </a:xfrm>
          <a:prstGeom prst="roundRect">
            <a:avLst>
              <a:gd name="adj" fmla="val 22000"/>
            </a:avLst>
          </a:prstGeom>
          <a:solidFill>
            <a:srgbClr val="169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isplay 64"/>
          <p:cNvSpPr/>
          <p:nvPr/>
        </p:nvSpPr>
        <p:spPr>
          <a:xfrm>
            <a:off x="9622043" y="1806658"/>
            <a:ext cx="249206" cy="249206"/>
          </a:xfrm>
          <a:prstGeom prst="flowChartDisplay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12694" y="2207459"/>
            <a:ext cx="106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Resourcing · Allocations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365967" y="3689604"/>
            <a:ext cx="479243" cy="479243"/>
          </a:xfrm>
          <a:prstGeom prst="roundRect">
            <a:avLst>
              <a:gd name="adj" fmla="val 22000"/>
            </a:avLst>
          </a:prstGeom>
          <a:solidFill>
            <a:srgbClr val="169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ata 67"/>
          <p:cNvSpPr/>
          <p:nvPr/>
        </p:nvSpPr>
        <p:spPr>
          <a:xfrm>
            <a:off x="8480986" y="3804622"/>
            <a:ext cx="249206" cy="249206"/>
          </a:xfrm>
          <a:prstGeom prst="flowChartInputOutp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71637" y="4205423"/>
            <a:ext cx="106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Health · Forecast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507024" y="3689604"/>
            <a:ext cx="479243" cy="479243"/>
          </a:xfrm>
          <a:prstGeom prst="roundRect">
            <a:avLst>
              <a:gd name="adj" fmla="val 22000"/>
            </a:avLst>
          </a:prstGeom>
          <a:solidFill>
            <a:srgbClr val="169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ular Callout 70"/>
          <p:cNvSpPr/>
          <p:nvPr/>
        </p:nvSpPr>
        <p:spPr>
          <a:xfrm>
            <a:off x="9622043" y="3804622"/>
            <a:ext cx="249206" cy="249206"/>
          </a:xfrm>
          <a:prstGeom prst="wedgeRoundRectCallo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12694" y="4205423"/>
            <a:ext cx="1067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19105B"/>
                </a:solidFill>
                <a:latin typeface="Arial"/>
              </a:rPr>
              <a:t>Buddy Chat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10344607" y="3314700"/>
            <a:ext cx="219456" cy="182880"/>
          </a:xfrm>
          <a:prstGeom prst="rightArrow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852099" y="2729484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191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138247" y="2900659"/>
            <a:ext cx="140934" cy="14093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rapezoid 75"/>
          <p:cNvSpPr/>
          <p:nvPr/>
        </p:nvSpPr>
        <p:spPr>
          <a:xfrm rot="10800000">
            <a:off x="11052945" y="3067555"/>
            <a:ext cx="311539" cy="203984"/>
          </a:xfrm>
          <a:prstGeom prst="trapezoi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454335" y="35890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919" b="0" i="0">
                <a:solidFill>
                  <a:srgbClr val="19105B"/>
                </a:solidFill>
                <a:latin typeface="Arial"/>
              </a:rPr>
              <a:t>Resource Manager &amp; Leadership</a:t>
            </a:r>
          </a:p>
        </p:txBody>
      </p:sp>
      <p:sp>
        <p:nvSpPr>
          <p:cNvPr id="78" name="Oval 77"/>
          <p:cNvSpPr/>
          <p:nvPr/>
        </p:nvSpPr>
        <p:spPr>
          <a:xfrm>
            <a:off x="2194560" y="5998464"/>
            <a:ext cx="109728" cy="109728"/>
          </a:xfrm>
          <a:prstGeom prst="ellipse">
            <a:avLst/>
          </a:prstGeom>
          <a:solidFill>
            <a:srgbClr val="0C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59152" y="5907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2514E"/>
                </a:solidFill>
                <a:latin typeface="Arial"/>
              </a:rPr>
              <a:t>Real data sources</a:t>
            </a:r>
          </a:p>
        </p:txBody>
      </p:sp>
      <p:sp>
        <p:nvSpPr>
          <p:cNvPr id="80" name="Oval 79"/>
          <p:cNvSpPr/>
          <p:nvPr/>
        </p:nvSpPr>
        <p:spPr>
          <a:xfrm>
            <a:off x="4069079" y="5998464"/>
            <a:ext cx="109728" cy="109728"/>
          </a:xfrm>
          <a:prstGeom prst="ellipse">
            <a:avLst/>
          </a:prstGeom>
          <a:solidFill>
            <a:srgbClr val="341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33671" y="5907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2514E"/>
                </a:solidFill>
                <a:latin typeface="Arial"/>
              </a:rPr>
              <a:t>Backend &amp; engines</a:t>
            </a:r>
          </a:p>
        </p:txBody>
      </p:sp>
      <p:sp>
        <p:nvSpPr>
          <p:cNvPr id="82" name="Oval 81"/>
          <p:cNvSpPr/>
          <p:nvPr/>
        </p:nvSpPr>
        <p:spPr>
          <a:xfrm>
            <a:off x="5943599" y="5998464"/>
            <a:ext cx="109728" cy="109728"/>
          </a:xfrm>
          <a:prstGeom prst="ellipse">
            <a:avLst/>
          </a:prstGeom>
          <a:solidFill>
            <a:srgbClr val="FF6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08191" y="5907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2514E"/>
                </a:solidFill>
                <a:latin typeface="Arial"/>
              </a:rPr>
              <a:t>AI layer</a:t>
            </a:r>
          </a:p>
        </p:txBody>
      </p:sp>
      <p:sp>
        <p:nvSpPr>
          <p:cNvPr id="84" name="Oval 83"/>
          <p:cNvSpPr/>
          <p:nvPr/>
        </p:nvSpPr>
        <p:spPr>
          <a:xfrm>
            <a:off x="7818119" y="5998464"/>
            <a:ext cx="109728" cy="109728"/>
          </a:xfrm>
          <a:prstGeom prst="ellipse">
            <a:avLst/>
          </a:prstGeom>
          <a:solidFill>
            <a:srgbClr val="169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82711" y="5907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2514E"/>
                </a:solidFill>
                <a:latin typeface="Arial"/>
              </a:rPr>
              <a:t>Frontend</a:t>
            </a:r>
          </a:p>
        </p:txBody>
      </p:sp>
      <p:sp>
        <p:nvSpPr>
          <p:cNvPr id="86" name="Oval 85"/>
          <p:cNvSpPr/>
          <p:nvPr/>
        </p:nvSpPr>
        <p:spPr>
          <a:xfrm>
            <a:off x="9692639" y="5998464"/>
            <a:ext cx="109728" cy="109728"/>
          </a:xfrm>
          <a:prstGeom prst="ellipse">
            <a:avLst/>
          </a:prstGeom>
          <a:solidFill>
            <a:srgbClr val="191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57231" y="5907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2514E"/>
                </a:solidFill>
                <a:latin typeface="Arial"/>
              </a:rPr>
              <a:t>End user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4048" y="6473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9105B"/>
                </a:solidFill>
                <a:latin typeface="Arial"/>
              </a:rPr>
              <a:t>JM</a:t>
            </a:r>
            <a:r>
              <a:rPr sz="1100" b="1" i="0">
                <a:solidFill>
                  <a:srgbClr val="3411A3"/>
                </a:solidFill>
                <a:latin typeface="Arial"/>
              </a:rPr>
              <a:t>/\</a:t>
            </a:r>
            <a:r>
              <a:rPr sz="1100" b="1" i="0">
                <a:solidFill>
                  <a:srgbClr val="19105B"/>
                </a:solidFill>
                <a:latin typeface="Arial"/>
              </a:rPr>
              <a:t>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